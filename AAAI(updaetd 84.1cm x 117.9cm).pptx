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7" autoAdjust="0"/>
    <p:restoredTop sz="95574" autoAdjust="0"/>
  </p:normalViewPr>
  <p:slideViewPr>
    <p:cSldViewPr snapToGrid="0" snapToObjects="1">
      <p:cViewPr>
        <p:scale>
          <a:sx n="33" d="100"/>
          <a:sy n="33" d="100"/>
        </p:scale>
        <p:origin x="2136" y="-3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333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513761" y="574681"/>
            <a:ext cx="27247693" cy="941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513761" y="9987546"/>
            <a:ext cx="27247693" cy="32816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422163" y="39534247"/>
            <a:ext cx="27507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6912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76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672812" marR="0" indent="-67281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133524" marR="0" indent="-787899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626880" marR="0" indent="-935630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087407" marR="0" indent="-105053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433032" marR="0" indent="-105053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7778657" marR="0" indent="-105053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124282" marR="0" indent="-105053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0469908" marR="0" indent="-105053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1815533" marR="0" indent="-1050532" algn="l" defTabSz="2691250" rtl="0" latinLnBrk="0">
        <a:lnSpc>
          <a:spcPct val="90000"/>
        </a:lnSpc>
        <a:spcBef>
          <a:spcPts val="2943"/>
        </a:spcBef>
        <a:spcAft>
          <a:spcPts val="0"/>
        </a:spcAft>
        <a:buClrTx/>
        <a:buSzPct val="100000"/>
        <a:buFont typeface="Arial"/>
        <a:buChar char="•"/>
        <a:tabLst/>
        <a:defRPr sz="818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00311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00623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00934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201246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501558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801870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102181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402493" algn="r" defTabSz="30031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H@10" TargetMode="External"/><Relationship Id="rId11" Type="http://schemas.openxmlformats.org/officeDocument/2006/relationships/image" Target="../media/image7.png"/><Relationship Id="rId5" Type="http://schemas.openxmlformats.org/officeDocument/2006/relationships/hyperlink" Target="mailto:H@1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5"/>
          <p:cNvSpPr txBox="1"/>
          <p:nvPr/>
        </p:nvSpPr>
        <p:spPr>
          <a:xfrm>
            <a:off x="3834581" y="1184703"/>
            <a:ext cx="20529755" cy="24929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1">
                <a:lumMod val="75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4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KG-EDAS: A Meta-Metric Framework for Evaluating Knowledge Graph </a:t>
            </a:r>
            <a:r>
              <a:rPr lang="en-US" sz="4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r>
              <a:rPr lang="en-US" sz="4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dirty="0"/>
              <a:t>School of Digital Science, </a:t>
            </a:r>
            <a:r>
              <a:rPr lang="en-US" sz="4000" dirty="0" err="1"/>
              <a:t>Universiti</a:t>
            </a:r>
            <a:r>
              <a:rPr lang="en-US" sz="4000" dirty="0"/>
              <a:t> Brunei Darussalam, Brunei Darussalam</a:t>
            </a:r>
          </a:p>
          <a:p>
            <a:pPr algn="ctr"/>
            <a:r>
              <a:rPr lang="en-US" sz="2800" dirty="0"/>
              <a:t>Haji Gul (23h1710@ubd.edu.bn), Abdul Ghani Naim, </a:t>
            </a:r>
            <a:r>
              <a:rPr lang="en-US" sz="2800" dirty="0" err="1"/>
              <a:t>Ajaz</a:t>
            </a:r>
            <a:r>
              <a:rPr lang="en-US" sz="2800" dirty="0"/>
              <a:t> Ahmad Bhat (ajaz.bhat@ubd.edu.bn)</a:t>
            </a:r>
          </a:p>
        </p:txBody>
      </p:sp>
      <p:sp>
        <p:nvSpPr>
          <p:cNvPr id="34" name="TextBox 39"/>
          <p:cNvSpPr txBox="1"/>
          <p:nvPr/>
        </p:nvSpPr>
        <p:spPr>
          <a:xfrm>
            <a:off x="706634" y="4744869"/>
            <a:ext cx="15280620" cy="116339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tx1"/>
                </a:solidFill>
                <a:effectLst/>
                <a:latin typeface="+mn-lt"/>
              </a:rPr>
              <a:t>Many Methods: </a:t>
            </a:r>
            <a:r>
              <a:rPr lang="en-US" sz="3000" dirty="0">
                <a:solidFill>
                  <a:schemeClr val="tx1"/>
                </a:solidFill>
                <a:effectLst/>
                <a:latin typeface="+mn-lt"/>
              </a:rPr>
              <a:t>Contradictory rankings across metrics &amp; datasets prevent top model selection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tx1"/>
                </a:solidFill>
                <a:effectLst/>
                <a:latin typeface="+mn-lt"/>
              </a:rPr>
              <a:t>Many Metric: </a:t>
            </a:r>
            <a:r>
              <a:rPr lang="en-US" sz="3000" dirty="0">
                <a:solidFill>
                  <a:schemeClr val="tx1"/>
                </a:solidFill>
                <a:effectLst/>
                <a:latin typeface="+mn-lt"/>
              </a:rPr>
              <a:t>No consensus exists on which metric (MRR? Hits@1? MR?) should be prioritized</a:t>
            </a:r>
          </a:p>
        </p:txBody>
      </p:sp>
      <p:sp>
        <p:nvSpPr>
          <p:cNvPr id="56" name="TextBox 43"/>
          <p:cNvSpPr txBox="1"/>
          <p:nvPr/>
        </p:nvSpPr>
        <p:spPr>
          <a:xfrm>
            <a:off x="652376" y="4024590"/>
            <a:ext cx="15334878" cy="6018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3311" b="1" i="1" dirty="0">
                <a:solidFill>
                  <a:schemeClr val="tx1"/>
                </a:solidFill>
              </a:rPr>
              <a:t>Problem Statement</a:t>
            </a:r>
            <a:endParaRPr lang="en-US" sz="2943" b="1" i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UBD Logo - Universiti Brunei Darussalam">
            <a:extLst>
              <a:ext uri="{FF2B5EF4-FFF2-40B4-BE49-F238E27FC236}">
                <a16:creationId xmlns:a16="http://schemas.microsoft.com/office/drawing/2014/main" id="{DD572501-D15D-75A2-9A73-C587935F1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752" y="1500696"/>
            <a:ext cx="2313965" cy="2241347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43">
            <a:extLst>
              <a:ext uri="{FF2B5EF4-FFF2-40B4-BE49-F238E27FC236}">
                <a16:creationId xmlns:a16="http://schemas.microsoft.com/office/drawing/2014/main" id="{E5EAC9FD-8B17-8430-D6F4-2ADC85F53950}"/>
              </a:ext>
            </a:extLst>
          </p:cNvPr>
          <p:cNvSpPr txBox="1"/>
          <p:nvPr/>
        </p:nvSpPr>
        <p:spPr>
          <a:xfrm>
            <a:off x="16350468" y="6035287"/>
            <a:ext cx="12850266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3400" b="1">
                <a:latin typeface="Arial"/>
                <a:ea typeface="Arial"/>
                <a:cs typeface="Arial"/>
              </a:defRPr>
            </a:lvl1pPr>
          </a:lstStyle>
          <a:p>
            <a:r>
              <a:rPr lang="en-SG" sz="3200" b="1" dirty="0">
                <a:solidFill>
                  <a:schemeClr val="tx1"/>
                </a:solidFill>
                <a:effectLst/>
                <a:latin typeface="+mn-ea"/>
              </a:rPr>
              <a:t>Multi-Dimensional </a:t>
            </a:r>
            <a:r>
              <a:rPr lang="en-US" sz="3127" dirty="0"/>
              <a:t>Testing </a:t>
            </a:r>
            <a:endParaRPr sz="3127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08B567-55E0-F16B-52A3-8265E14E3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5715" y="1340315"/>
            <a:ext cx="4440116" cy="2500088"/>
          </a:xfrm>
          <a:prstGeom prst="rect">
            <a:avLst/>
          </a:prstGeom>
        </p:spPr>
      </p:pic>
      <p:sp>
        <p:nvSpPr>
          <p:cNvPr id="2" name="TextBox 43">
            <a:extLst>
              <a:ext uri="{FF2B5EF4-FFF2-40B4-BE49-F238E27FC236}">
                <a16:creationId xmlns:a16="http://schemas.microsoft.com/office/drawing/2014/main" id="{778F387F-61D4-C305-1198-5A2B2C0482E2}"/>
              </a:ext>
            </a:extLst>
          </p:cNvPr>
          <p:cNvSpPr txBox="1"/>
          <p:nvPr/>
        </p:nvSpPr>
        <p:spPr>
          <a:xfrm>
            <a:off x="648931" y="6059483"/>
            <a:ext cx="15280620" cy="5735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3127" b="1" dirty="0"/>
              <a:t>Methodology</a:t>
            </a:r>
            <a:endParaRPr sz="3127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DCDC9E-DAB9-50E8-61C9-44914003E8FE}"/>
              </a:ext>
            </a:extLst>
          </p:cNvPr>
          <p:cNvCxnSpPr>
            <a:cxnSpLocks/>
          </p:cNvCxnSpPr>
          <p:nvPr/>
        </p:nvCxnSpPr>
        <p:spPr>
          <a:xfrm>
            <a:off x="623050" y="33213619"/>
            <a:ext cx="2870932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20067E-6531-071E-7A36-983C29A85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91490"/>
              </p:ext>
            </p:extLst>
          </p:nvPr>
        </p:nvGraphicFramePr>
        <p:xfrm>
          <a:off x="648931" y="13672989"/>
          <a:ext cx="28887230" cy="31044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13269">
                  <a:extLst>
                    <a:ext uri="{9D8B030D-6E8A-4147-A177-3AD203B41FA5}">
                      <a16:colId xmlns:a16="http://schemas.microsoft.com/office/drawing/2014/main" val="259294511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24447245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0954672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9700550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1745615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71905832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57222127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69901632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41840244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3949094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58686698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70660577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85682892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332845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88793755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4309274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136806669"/>
                    </a:ext>
                  </a:extLst>
                </a:gridCol>
                <a:gridCol w="1088904">
                  <a:extLst>
                    <a:ext uri="{9D8B030D-6E8A-4147-A177-3AD203B41FA5}">
                      <a16:colId xmlns:a16="http://schemas.microsoft.com/office/drawing/2014/main" val="2020159372"/>
                    </a:ext>
                  </a:extLst>
                </a:gridCol>
                <a:gridCol w="1354419">
                  <a:extLst>
                    <a:ext uri="{9D8B030D-6E8A-4147-A177-3AD203B41FA5}">
                      <a16:colId xmlns:a16="http://schemas.microsoft.com/office/drawing/2014/main" val="2338042146"/>
                    </a:ext>
                  </a:extLst>
                </a:gridCol>
                <a:gridCol w="1354419">
                  <a:extLst>
                    <a:ext uri="{9D8B030D-6E8A-4147-A177-3AD203B41FA5}">
                      <a16:colId xmlns:a16="http://schemas.microsoft.com/office/drawing/2014/main" val="1697603461"/>
                    </a:ext>
                  </a:extLst>
                </a:gridCol>
                <a:gridCol w="1354419">
                  <a:extLst>
                    <a:ext uri="{9D8B030D-6E8A-4147-A177-3AD203B41FA5}">
                      <a16:colId xmlns:a16="http://schemas.microsoft.com/office/drawing/2014/main" val="3464687127"/>
                    </a:ext>
                  </a:extLst>
                </a:gridCol>
              </a:tblGrid>
              <a:tr h="455966">
                <a:tc>
                  <a:txBody>
                    <a:bodyPr/>
                    <a:lstStyle/>
                    <a:p>
                      <a:pPr algn="l" fontAlgn="b"/>
                      <a:endParaRPr lang="en-SG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FB15k</a:t>
                      </a:r>
                      <a:endParaRPr lang="en-SG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WN18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FB15k-237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WN18RR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YAGO3-10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27356"/>
                  </a:ext>
                </a:extLst>
              </a:tr>
              <a:tr h="678026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Models</a:t>
                      </a:r>
                      <a:endParaRPr lang="en-SG" sz="2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</a:t>
                      </a:r>
                      <a:endParaRPr lang="en-SG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</a:t>
                      </a:r>
                      <a:endParaRPr lang="en-SG" sz="2800" b="1" i="0" u="sng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H@10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H@10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H@10</a:t>
                      </a:r>
                      <a:endParaRPr lang="en-SG" sz="2800" b="1" i="0" u="sng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H@10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MRR</a:t>
                      </a:r>
                      <a:endParaRPr lang="en-SG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sng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H@10</a:t>
                      </a:r>
                      <a:endParaRPr lang="en-SG" sz="2800" b="1" i="0" u="sng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488311"/>
                  </a:ext>
                </a:extLst>
              </a:tr>
              <a:tr h="53134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RotatE</a:t>
                      </a:r>
                      <a:endParaRPr lang="en-SG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42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0.791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0.739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0.881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274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0.949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0.943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0.336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0.238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0.531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3318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0.475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0.426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0.573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1827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0.498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0.405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0.671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8050259"/>
                  </a:ext>
                </a:extLst>
              </a:tr>
              <a:tr h="53094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TuckER</a:t>
                      </a:r>
                      <a:endParaRPr lang="en-SG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39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0.788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0.729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0.889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510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0.951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0.946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0.958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162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0.352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0.259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0.536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6239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0.459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0.43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0.514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2417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0.544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0.466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0.681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3205136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RSN</a:t>
                      </a:r>
                      <a:endParaRPr lang="en-SG" sz="2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70</a:t>
                      </a:r>
                      <a:endParaRPr lang="en-SG" sz="2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0.773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0.706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0.886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471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0.95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0.946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0.959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251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0.346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0.256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0.526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5646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0.467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0.437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0.527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2582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0.527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0.446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0.673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9550446"/>
                  </a:ext>
                </a:extLst>
              </a:tr>
              <a:tr h="294967"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1" u="none" strike="noStrike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ConvR</a:t>
                      </a:r>
                      <a:endParaRPr lang="en-SG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51</a:t>
                      </a:r>
                      <a:endParaRPr lang="en-SG" sz="2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0.777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0.723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0.87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346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0.928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0.912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0.951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248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0.28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0.198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0.444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4210</a:t>
                      </a:r>
                      <a:endParaRPr lang="en-SG" sz="2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0.395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0.346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0.483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1339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0.511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0.427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8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0.664</a:t>
                      </a:r>
                      <a:endParaRPr lang="en-SG" sz="2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14811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DB56661-C27B-6D89-1907-921AA3DC1FF2}"/>
              </a:ext>
            </a:extLst>
          </p:cNvPr>
          <p:cNvSpPr txBox="1"/>
          <p:nvPr/>
        </p:nvSpPr>
        <p:spPr>
          <a:xfrm>
            <a:off x="12919589" y="13057821"/>
            <a:ext cx="613532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i="1" dirty="0"/>
              <a:t>Table 1: Link Prediction Results</a:t>
            </a:r>
            <a:endParaRPr kumimoji="0" lang="en-SG" sz="32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C8AC29-D4AA-66E1-2884-037F2AFEDFA3}"/>
                  </a:ext>
                </a:extLst>
              </p:cNvPr>
              <p:cNvSpPr txBox="1"/>
              <p:nvPr/>
            </p:nvSpPr>
            <p:spPr>
              <a:xfrm>
                <a:off x="723319" y="6806444"/>
                <a:ext cx="15131844" cy="615681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en-US" sz="3000" dirty="0"/>
                  <a:t>This study evaluates eight Multi-Criteria Decision-Making (MCDM) aggregators to reliably rank Knowledge Graph Completion (KGC) models across multiple metrics (MRR, Hits@1/3/10, MR).</a:t>
                </a:r>
              </a:p>
              <a:p>
                <a:pPr marL="571500" indent="-571500" algn="just">
                  <a:buFont typeface="Arial" panose="020B0604020202020204" pitchFamily="34" charset="0"/>
                  <a:buChar char="•"/>
                </a:pPr>
                <a:r>
                  <a:rPr lang="en-US" sz="3000" b="1" dirty="0"/>
                  <a:t>Evaluation based on Distance from Average Solution (</a:t>
                </a:r>
                <a:r>
                  <a:rPr lang="en-US" sz="3000" b="1" dirty="0">
                    <a:effectLst/>
                  </a:rPr>
                  <a:t>EDAS</a:t>
                </a:r>
                <a:r>
                  <a:rPr lang="en-US" sz="3000" b="1" dirty="0">
                    <a:sym typeface="Wingdings" panose="05000000000000000000" pitchFamily="2" charset="2"/>
                  </a:rPr>
                  <a:t>):</a:t>
                </a:r>
                <a:r>
                  <a:rPr lang="en-US" sz="3000" b="1" dirty="0">
                    <a:effectLst/>
                  </a:rPr>
                  <a:t> </a:t>
                </a:r>
                <a:r>
                  <a:rPr lang="en-US" sz="3000" dirty="0"/>
                  <a:t>It is a cardinal approach that measures positive/negative deviations from average performance.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𝐴𝑣𝑔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=1…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,</m:t>
                        </m:r>
                      </m:e>
                    </m:nary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𝑃𝐷𝐴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(0,   </m:t>
                            </m:r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𝐴𝑣𝑔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𝐴𝑣𝑔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𝑁𝐷𝐴</m:t>
                        </m:r>
                      </m:e>
                      <m:sub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= </m:t>
                        </m:r>
                      </m:sub>
                    </m:sSub>
                    <m:r>
                      <a:rPr lang="en-US" sz="2200" b="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fName>
                          <m: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(0,   </m:t>
                            </m:r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𝐴𝑣𝑔</m:t>
                                </m:r>
                              </m:e>
                              <m:sub>
                                <m:r>
                                  <a:rPr lang="en-US" sz="22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𝐴𝑣𝑔</m:t>
                            </m:r>
                          </m:e>
                          <m:sub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en-US" sz="2200" i="1" dirty="0"/>
                  <a:t>(Beneficial)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𝑃𝐷𝐴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(0,   </m:t>
                            </m:r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𝐴𝑣𝑔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𝐴𝑣𝑔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 ,   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𝑁𝐷𝐴</m:t>
                        </m:r>
                      </m:e>
                      <m:sub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= </m:t>
                        </m:r>
                      </m:sub>
                    </m:sSub>
                    <m:r>
                      <a:rPr lang="en-US" sz="2200" b="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fName>
                          <m: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(0,   </m:t>
                            </m:r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𝐴𝑣𝑔</m:t>
                                </m:r>
                              </m:e>
                              <m:sub>
                                <m:r>
                                  <a:rPr lang="en-US" sz="22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𝐴𝑣𝑔</m:t>
                            </m:r>
                          </m:e>
                          <m:sub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en-US" sz="2200" i="1" dirty="0"/>
                  <a:t>(Non-Beneficial)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𝑊𝑃𝐷𝐴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.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𝑃𝐷𝐴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𝐷𝐴</m:t>
                          </m:r>
                        </m:e>
                        <m: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200" b="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.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𝐷𝐴</m:t>
                              </m:r>
                            </m:e>
                            <m: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𝑊𝑃𝐷𝐴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𝑊𝑃𝐷𝐴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𝑊𝑃𝐷𝐴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𝐷𝐴</m:t>
                              </m:r>
                            </m:e>
                            <m: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𝐷𝐴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𝐷𝐴</m:t>
                              </m:r>
                            </m:e>
                            <m: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𝑊𝑃𝐷𝐴</m:t>
                              </m:r>
                            </m:e>
                          </m:d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𝑊𝑁𝐷𝐴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200" dirty="0"/>
              </a:p>
              <a:p>
                <a:pPr marL="571500" indent="-571500" algn="just">
                  <a:buFont typeface="Arial" panose="020B0604020202020204" pitchFamily="34" charset="0"/>
                  <a:buChar char="•"/>
                </a:pPr>
                <a:r>
                  <a:rPr lang="en-US" sz="3000" b="1" dirty="0"/>
                  <a:t>Z-Score (ZS): </a:t>
                </a:r>
                <a:r>
                  <a:rPr lang="en-US" sz="3000" dirty="0"/>
                  <a:t>It standardizes metrics using mean and standard deviation.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2200" b="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µ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 ,    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ZS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C8AC29-D4AA-66E1-2884-037F2AFE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19" y="6806444"/>
                <a:ext cx="15131844" cy="6156814"/>
              </a:xfrm>
              <a:prstGeom prst="rect">
                <a:avLst/>
              </a:prstGeom>
              <a:blipFill>
                <a:blip r:embed="rId7"/>
                <a:stretch>
                  <a:fillRect l="-967" t="-1188" r="-92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C8BDEFE-1D62-5B63-D1E0-78DE392484D2}"/>
              </a:ext>
            </a:extLst>
          </p:cNvPr>
          <p:cNvSpPr txBox="1"/>
          <p:nvPr/>
        </p:nvSpPr>
        <p:spPr>
          <a:xfrm>
            <a:off x="16350468" y="6802437"/>
            <a:ext cx="13176508" cy="43088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This pairing enables a principled comparison across four key components: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sz="3000" b="1" i="0" dirty="0">
                <a:solidFill>
                  <a:schemeClr val="tx1"/>
                </a:solidFill>
                <a:effectLst/>
                <a:latin typeface="+mn-ea"/>
              </a:rPr>
              <a:t>Consistency:</a:t>
            </a:r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 Alignment with base metrics (</a:t>
            </a:r>
            <a:r>
              <a:rPr lang="el-GR" sz="3000" b="0" i="0" dirty="0">
                <a:solidFill>
                  <a:schemeClr val="tx1"/>
                </a:solidFill>
                <a:effectLst/>
                <a:latin typeface="+mn-ea"/>
              </a:rPr>
              <a:t>τ, </a:t>
            </a:r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r, </a:t>
            </a:r>
            <a:r>
              <a:rPr lang="el-GR" sz="3000" b="0" i="0" dirty="0">
                <a:solidFill>
                  <a:schemeClr val="tx1"/>
                </a:solidFill>
                <a:effectLst/>
                <a:latin typeface="+mn-ea"/>
              </a:rPr>
              <a:t>ρ </a:t>
            </a:r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correlation)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sz="3000" b="1" i="0" dirty="0">
                <a:solidFill>
                  <a:schemeClr val="tx1"/>
                </a:solidFill>
                <a:effectLst/>
                <a:latin typeface="+mn-ea"/>
              </a:rPr>
              <a:t>Stability:</a:t>
            </a:r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 Cross-dataset ranking variance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sz="3000" b="1" i="0" dirty="0">
                <a:solidFill>
                  <a:schemeClr val="tx1"/>
                </a:solidFill>
                <a:effectLst/>
                <a:latin typeface="+mn-ea"/>
              </a:rPr>
              <a:t>Robustness:</a:t>
            </a:r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 Sensitivity to metric removal (leave-one-out)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sz="3000" b="1" i="0" dirty="0">
                <a:solidFill>
                  <a:schemeClr val="tx1"/>
                </a:solidFill>
                <a:effectLst/>
                <a:latin typeface="+mn-ea"/>
              </a:rPr>
              <a:t>Generalizability:</a:t>
            </a:r>
            <a:r>
              <a:rPr lang="en-SG" sz="3000" b="0" i="0" dirty="0">
                <a:solidFill>
                  <a:schemeClr val="tx1"/>
                </a:solidFill>
                <a:effectLst/>
                <a:latin typeface="+mn-ea"/>
              </a:rPr>
              <a:t> Performance on unseen benchmarks.</a:t>
            </a:r>
          </a:p>
          <a:p>
            <a:br>
              <a:rPr lang="en-SG" sz="3200" dirty="0">
                <a:solidFill>
                  <a:schemeClr val="tx1"/>
                </a:solidFill>
                <a:latin typeface="+mn-ea"/>
              </a:rPr>
            </a:br>
            <a:endParaRPr lang="en-SG" sz="3200" dirty="0">
              <a:solidFill>
                <a:schemeClr val="tx1"/>
              </a:solidFill>
              <a:latin typeface="+mn-ea"/>
            </a:endParaRPr>
          </a:p>
          <a:p>
            <a:pPr algn="just"/>
            <a:endParaRPr lang="en-US" sz="30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71D598-B01E-DEB3-C3BD-90E7D6C218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0676" y="9143642"/>
            <a:ext cx="12570058" cy="342935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9094368-507F-6A71-37CB-C21024FD759C}"/>
              </a:ext>
            </a:extLst>
          </p:cNvPr>
          <p:cNvSpPr txBox="1"/>
          <p:nvPr/>
        </p:nvSpPr>
        <p:spPr>
          <a:xfrm>
            <a:off x="20629494" y="12664238"/>
            <a:ext cx="613532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i="1" dirty="0"/>
              <a:t>Fig 1: Methodology Diagram</a:t>
            </a:r>
            <a:endParaRPr kumimoji="0" lang="en-SG" sz="32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A6CD5A-CA28-B937-C952-9EFEBBEE33FD}"/>
              </a:ext>
            </a:extLst>
          </p:cNvPr>
          <p:cNvSpPr txBox="1"/>
          <p:nvPr/>
        </p:nvSpPr>
        <p:spPr>
          <a:xfrm>
            <a:off x="16350468" y="3951516"/>
            <a:ext cx="12414390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We additionally consider six other established MCDM techniques: </a:t>
            </a:r>
            <a:r>
              <a:rPr lang="en-US" sz="3000" b="1" dirty="0">
                <a:solidFill>
                  <a:schemeClr val="tx1"/>
                </a:solidFill>
              </a:rPr>
              <a:t>TOPSIS, VIKOR, WASPAS, MOORA, Borda Count, and Pareto Frontier</a:t>
            </a:r>
            <a:r>
              <a:rPr lang="en-US" sz="3000" dirty="0">
                <a:solidFill>
                  <a:schemeClr val="tx1"/>
                </a:solidFill>
              </a:rPr>
              <a:t> to ensure comprehensive coverage of aggregation philosophies (cardinal, ordinal, and set-based).</a:t>
            </a:r>
          </a:p>
        </p:txBody>
      </p:sp>
      <p:sp>
        <p:nvSpPr>
          <p:cNvPr id="25" name="TextBox 43">
            <a:extLst>
              <a:ext uri="{FF2B5EF4-FFF2-40B4-BE49-F238E27FC236}">
                <a16:creationId xmlns:a16="http://schemas.microsoft.com/office/drawing/2014/main" id="{2EAE9245-E0D9-EA2E-17CB-5D3E38552E4C}"/>
              </a:ext>
            </a:extLst>
          </p:cNvPr>
          <p:cNvSpPr txBox="1"/>
          <p:nvPr/>
        </p:nvSpPr>
        <p:spPr>
          <a:xfrm>
            <a:off x="654691" y="16877913"/>
            <a:ext cx="28872283" cy="5735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3127" b="1" dirty="0"/>
              <a:t>Results</a:t>
            </a:r>
            <a:endParaRPr sz="3127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C35417-CEB0-0496-F6E4-8C5D47916C67}"/>
              </a:ext>
            </a:extLst>
          </p:cNvPr>
          <p:cNvSpPr txBox="1"/>
          <p:nvPr/>
        </p:nvSpPr>
        <p:spPr>
          <a:xfrm>
            <a:off x="10308285" y="24218291"/>
            <a:ext cx="979292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3: Correlation Among some Aggregators and Metrics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2B79A0-7056-FA25-F152-66AEE9939F40}"/>
              </a:ext>
            </a:extLst>
          </p:cNvPr>
          <p:cNvSpPr txBox="1"/>
          <p:nvPr/>
        </p:nvSpPr>
        <p:spPr>
          <a:xfrm>
            <a:off x="706634" y="24285228"/>
            <a:ext cx="716280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2: Variance Distributions Across Aggregators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390725-4B13-D5AA-0CEB-DE13B09D1FE3}"/>
              </a:ext>
            </a:extLst>
          </p:cNvPr>
          <p:cNvSpPr txBox="1"/>
          <p:nvPr/>
        </p:nvSpPr>
        <p:spPr>
          <a:xfrm>
            <a:off x="24075615" y="22763316"/>
            <a:ext cx="587265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4: Consensus Average Ranking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02F78A-965C-8A29-BA56-F523635433E8}"/>
              </a:ext>
            </a:extLst>
          </p:cNvPr>
          <p:cNvSpPr txBox="1"/>
          <p:nvPr/>
        </p:nvSpPr>
        <p:spPr>
          <a:xfrm>
            <a:off x="3488812" y="32542429"/>
            <a:ext cx="556364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5: Distributions Variance values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2F5D7-912F-AA38-F75A-F41B070EF7C9}"/>
              </a:ext>
            </a:extLst>
          </p:cNvPr>
          <p:cNvSpPr txBox="1"/>
          <p:nvPr/>
        </p:nvSpPr>
        <p:spPr>
          <a:xfrm>
            <a:off x="18589439" y="32577845"/>
            <a:ext cx="7178521" cy="5231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6: Robustness: MR most Disruptive  Removal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4FDC1-8237-E265-8AB2-0B1F1AF1BF0D}"/>
              </a:ext>
            </a:extLst>
          </p:cNvPr>
          <p:cNvSpPr txBox="1"/>
          <p:nvPr/>
        </p:nvSpPr>
        <p:spPr>
          <a:xfrm>
            <a:off x="2659053" y="39556970"/>
            <a:ext cx="893914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7: Generalization Top-1 and 3 Accuracy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AA6187-F664-3F03-72E5-3DA7BEAC9B72}"/>
              </a:ext>
            </a:extLst>
          </p:cNvPr>
          <p:cNvSpPr txBox="1"/>
          <p:nvPr/>
        </p:nvSpPr>
        <p:spPr>
          <a:xfrm>
            <a:off x="18344067" y="39556970"/>
            <a:ext cx="742389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800" i="1" dirty="0"/>
              <a:t>Fig 8: </a:t>
            </a:r>
            <a:r>
              <a:rPr lang="en-US" altLang="en-US" sz="2800" i="1" dirty="0"/>
              <a:t>(τ) with 95% CI across MCDM Aggregators</a:t>
            </a:r>
          </a:p>
        </p:txBody>
      </p:sp>
      <p:sp>
        <p:nvSpPr>
          <p:cNvPr id="35" name="TextBox 43">
            <a:extLst>
              <a:ext uri="{FF2B5EF4-FFF2-40B4-BE49-F238E27FC236}">
                <a16:creationId xmlns:a16="http://schemas.microsoft.com/office/drawing/2014/main" id="{7C8A3F22-25E8-2C2F-17EF-09A0482677B0}"/>
              </a:ext>
            </a:extLst>
          </p:cNvPr>
          <p:cNvSpPr txBox="1"/>
          <p:nvPr/>
        </p:nvSpPr>
        <p:spPr>
          <a:xfrm>
            <a:off x="758769" y="40202855"/>
            <a:ext cx="28602446" cy="5735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048" rIns="42048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3127" b="1" dirty="0"/>
              <a:t>Conclusion</a:t>
            </a:r>
            <a:endParaRPr sz="3127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24E342-71AD-8E5E-414C-6E374D5553DE}"/>
              </a:ext>
            </a:extLst>
          </p:cNvPr>
          <p:cNvSpPr txBox="1"/>
          <p:nvPr/>
        </p:nvSpPr>
        <p:spPr>
          <a:xfrm>
            <a:off x="362510" y="40773129"/>
            <a:ext cx="28998705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(1) Trade-offs exist. 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No single aggregator is best for all evaluation goals. </a:t>
            </a: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(2)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Use EDAS or Z-Score 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for robust, consistent overall rankings.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(3) Borda Count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 is best for stable rankings across datasets.,                        </a:t>
            </a: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(4)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Consensus bests: </a:t>
            </a:r>
            <a:r>
              <a:rPr lang="en-US" altLang="en-US" sz="3000" dirty="0" err="1">
                <a:solidFill>
                  <a:schemeClr val="tx1"/>
                </a:solidFill>
                <a:latin typeface="+mn-ea"/>
              </a:rPr>
              <a:t>RotatE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en-US" sz="3000" dirty="0" err="1">
                <a:solidFill>
                  <a:schemeClr val="tx1"/>
                </a:solidFill>
                <a:latin typeface="+mn-ea"/>
              </a:rPr>
              <a:t>TuckER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 (relation), </a:t>
            </a:r>
            <a:r>
              <a:rPr lang="en-US" altLang="en-US" sz="3000" dirty="0" err="1">
                <a:solidFill>
                  <a:schemeClr val="tx1"/>
                </a:solidFill>
                <a:latin typeface="+mn-ea"/>
              </a:rPr>
              <a:t>MuCo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-KGC/KICGPT (tail). 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(5)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en-US" sz="3000" b="1" dirty="0">
                <a:solidFill>
                  <a:schemeClr val="tx1"/>
                </a:solidFill>
                <a:latin typeface="+mn-ea"/>
              </a:rPr>
              <a:t>Model stability varies greatly 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(e.g., RSN stable, </a:t>
            </a:r>
            <a:r>
              <a:rPr lang="en-US" altLang="en-US" sz="3000" dirty="0" err="1">
                <a:solidFill>
                  <a:schemeClr val="tx1"/>
                </a:solidFill>
                <a:latin typeface="+mn-ea"/>
              </a:rPr>
              <a:t>DistMult</a:t>
            </a:r>
            <a:r>
              <a:rPr lang="en-US" altLang="en-US" sz="3000" dirty="0">
                <a:solidFill>
                  <a:schemeClr val="tx1"/>
                </a:solidFill>
                <a:latin typeface="+mn-ea"/>
              </a:rPr>
              <a:t> volatile).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F4E37-233E-3B19-F2EF-EEBEB9D10827}"/>
              </a:ext>
            </a:extLst>
          </p:cNvPr>
          <p:cNvSpPr txBox="1"/>
          <p:nvPr/>
        </p:nvSpPr>
        <p:spPr>
          <a:xfrm>
            <a:off x="652376" y="17549515"/>
            <a:ext cx="28865852" cy="20621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Test 1: Consistency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EDAS and TOPSIS show the highest overall alignment with standard metrics (</a:t>
            </a:r>
            <a:r>
              <a:rPr lang="en-US" sz="3200" i="1" dirty="0"/>
              <a:t>~0.6–0.8 </a:t>
            </a:r>
            <a:r>
              <a:rPr lang="en-US" sz="3200" dirty="0"/>
              <a:t>with H1, H10, MR, MRR).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VIKOR and WASPAS lowest correlated alignment.</a:t>
            </a:r>
            <a:endParaRPr lang="en-SG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3200" dirty="0"/>
              <a:t>Rotate achieved the top average ranking performance (average rank </a:t>
            </a:r>
            <a:r>
              <a:rPr lang="en-SG" sz="3200" i="1" dirty="0"/>
              <a:t>1.50</a:t>
            </a:r>
            <a:r>
              <a:rPr lang="en-SG" sz="3200" dirty="0"/>
              <a:t>).</a:t>
            </a:r>
          </a:p>
        </p:txBody>
      </p:sp>
      <p:pic>
        <p:nvPicPr>
          <p:cNvPr id="11" name="Picture 10" descr="A chart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3206CEB6-1248-C5BE-6DD3-FBAEAE4D68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69" y="19684915"/>
            <a:ext cx="5740002" cy="4432237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6BD1C1-1D24-4BDA-D257-A29AF5DB73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9912" y="19741900"/>
            <a:ext cx="16284208" cy="4362801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B147D20-4194-2262-5E2B-D009D2B809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04214" y="19684915"/>
            <a:ext cx="5740003" cy="4474838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0B2E134-F561-1B41-728B-CD04D4259F75}"/>
              </a:ext>
            </a:extLst>
          </p:cNvPr>
          <p:cNvSpPr txBox="1"/>
          <p:nvPr/>
        </p:nvSpPr>
        <p:spPr>
          <a:xfrm>
            <a:off x="758769" y="25081978"/>
            <a:ext cx="13386733" cy="1631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Test 2: Stability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3200" dirty="0"/>
              <a:t>VIKOR Q and </a:t>
            </a:r>
            <a:r>
              <a:rPr lang="en-SG" sz="3200" dirty="0" err="1"/>
              <a:t>Borda</a:t>
            </a:r>
            <a:r>
              <a:rPr lang="en-SG" sz="3200" dirty="0"/>
              <a:t> are most stable ranking (mean variance </a:t>
            </a:r>
            <a:r>
              <a:rPr lang="en-SG" sz="3200" i="1" dirty="0"/>
              <a:t>2.88 and 2.912</a:t>
            </a:r>
            <a:r>
              <a:rPr lang="en-SG" sz="32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3200" dirty="0"/>
              <a:t>TOPSIS exhibits the highest instability (mean variance </a:t>
            </a:r>
            <a:r>
              <a:rPr lang="en-SG" sz="3200" i="1" dirty="0"/>
              <a:t>4.016</a:t>
            </a:r>
            <a:r>
              <a:rPr lang="en-SG" sz="3200" dirty="0"/>
              <a:t>).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3E10FD0-5F0A-7C09-703D-007440BD7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01" y="34603738"/>
            <a:ext cx="12086988" cy="4933414"/>
          </a:xfrm>
          <a:prstGeom prst="rect">
            <a:avLst/>
          </a:prstGeom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23BA6ED-27F1-2C9C-420F-57214876DB52}"/>
              </a:ext>
            </a:extLst>
          </p:cNvPr>
          <p:cNvSpPr txBox="1"/>
          <p:nvPr/>
        </p:nvSpPr>
        <p:spPr>
          <a:xfrm>
            <a:off x="24114238" y="24257409"/>
            <a:ext cx="5529978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i="1" dirty="0"/>
              <a:t>Fig 2: Average Ranking performance</a:t>
            </a:r>
            <a:endParaRPr kumimoji="0" lang="en-SG" sz="2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53" name="Picture 52" descr="A screen shot of a graph&#10;&#10;Description automatically generated">
            <a:extLst>
              <a:ext uri="{FF2B5EF4-FFF2-40B4-BE49-F238E27FC236}">
                <a16:creationId xmlns:a16="http://schemas.microsoft.com/office/drawing/2014/main" id="{8833A92B-7061-771A-F22D-DEB7B76E31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0468" y="34449597"/>
            <a:ext cx="11095761" cy="5107372"/>
          </a:xfrm>
          <a:prstGeom prst="rect">
            <a:avLst/>
          </a:prstGeom>
          <a:ln>
            <a:solidFill>
              <a:srgbClr val="00B0F0"/>
            </a:solidFill>
          </a:ln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4F50E67-72F5-38D9-EFB1-1A25A761657F}"/>
              </a:ext>
            </a:extLst>
          </p:cNvPr>
          <p:cNvCxnSpPr>
            <a:cxnSpLocks/>
          </p:cNvCxnSpPr>
          <p:nvPr/>
        </p:nvCxnSpPr>
        <p:spPr>
          <a:xfrm>
            <a:off x="630996" y="24808446"/>
            <a:ext cx="28887232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12">
            <a:extLst>
              <a:ext uri="{FF2B5EF4-FFF2-40B4-BE49-F238E27FC236}">
                <a16:creationId xmlns:a16="http://schemas.microsoft.com/office/drawing/2014/main" id="{06D0C862-EA8E-4BD3-AED4-5258538F2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01" y="26915343"/>
            <a:ext cx="12086988" cy="5593308"/>
          </a:xfrm>
          <a:prstGeom prst="rect">
            <a:avLst/>
          </a:prstGeom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5044482-5692-7BC7-4CB5-252D929D515E}"/>
              </a:ext>
            </a:extLst>
          </p:cNvPr>
          <p:cNvSpPr txBox="1"/>
          <p:nvPr/>
        </p:nvSpPr>
        <p:spPr>
          <a:xfrm>
            <a:off x="15204749" y="25135642"/>
            <a:ext cx="13386733" cy="1631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Test 3: </a:t>
            </a:r>
            <a:r>
              <a:rPr lang="en-US" sz="3600" b="1" i="1" dirty="0"/>
              <a:t>Robustness </a:t>
            </a:r>
            <a:r>
              <a:rPr kumimoji="0" lang="en-US" sz="36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3200" dirty="0"/>
              <a:t>MR is Higher disruptive metric in the robustness analysis.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3200" dirty="0"/>
              <a:t>B</a:t>
            </a:r>
            <a:r>
              <a:rPr lang="en-US" sz="3200" dirty="0"/>
              <a:t>aseline and ablated rankings correlation </a:t>
            </a:r>
            <a:r>
              <a:rPr lang="en-US" sz="3200" i="1" dirty="0"/>
              <a:t>(&gt; 0.90</a:t>
            </a:r>
            <a:r>
              <a:rPr lang="en-US" sz="3200" dirty="0"/>
              <a:t>, MRR, H@1/1-removed)</a:t>
            </a:r>
            <a:endParaRPr lang="en-SG" sz="3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4AEE19-23E0-B9D7-D1BE-314C5EFCC343}"/>
              </a:ext>
            </a:extLst>
          </p:cNvPr>
          <p:cNvSpPr txBox="1"/>
          <p:nvPr/>
        </p:nvSpPr>
        <p:spPr>
          <a:xfrm>
            <a:off x="648930" y="33326215"/>
            <a:ext cx="18553469" cy="11233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1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Test 4: </a:t>
            </a:r>
            <a:r>
              <a:rPr kumimoji="0" lang="en-US" sz="36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Generalization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3100" dirty="0"/>
              <a:t>TOPSIS and WASPAS top-1 accuracy (</a:t>
            </a:r>
            <a:r>
              <a:rPr lang="en-SG" sz="3100" i="1" dirty="0"/>
              <a:t>0.35</a:t>
            </a:r>
            <a:r>
              <a:rPr lang="en-SG" sz="3100" dirty="0"/>
              <a:t>) higher than others.  While </a:t>
            </a:r>
            <a:r>
              <a:rPr lang="en-SG" sz="3100" dirty="0" err="1"/>
              <a:t>Borda</a:t>
            </a:r>
            <a:r>
              <a:rPr lang="en-SG" sz="3100" dirty="0"/>
              <a:t> and Z-score top-3 accuracy (</a:t>
            </a:r>
            <a:r>
              <a:rPr lang="en-SG" sz="3100" i="1" dirty="0"/>
              <a:t>0.95</a:t>
            </a:r>
            <a:r>
              <a:rPr lang="en-SG" sz="3100" dirty="0"/>
              <a:t>).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01DE55FA-E6B8-FFA5-4F19-1E90EADA3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0468" y="26794680"/>
            <a:ext cx="11095761" cy="5748492"/>
          </a:xfrm>
          <a:prstGeom prst="rect">
            <a:avLst/>
          </a:prstGeom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3504</TotalTime>
  <Words>715</Words>
  <Application>Microsoft Office PowerPoint</Application>
  <PresentationFormat>Custom</PresentationFormat>
  <Paragraphs>160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Haji Gul</cp:lastModifiedBy>
  <cp:revision>60</cp:revision>
  <dcterms:modified xsi:type="dcterms:W3CDTF">2026-03-30T17:01:56Z</dcterms:modified>
</cp:coreProperties>
</file>